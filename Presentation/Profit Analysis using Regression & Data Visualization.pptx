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9" r:id="rId4"/>
    <p:sldId id="260" r:id="rId5"/>
    <p:sldId id="261" r:id="rId6"/>
    <p:sldId id="270" r:id="rId7"/>
    <p:sldId id="262" r:id="rId8"/>
    <p:sldId id="263" r:id="rId9"/>
    <p:sldId id="264" r:id="rId10"/>
    <p:sldId id="265" r:id="rId11"/>
    <p:sldId id="271" r:id="rId12"/>
    <p:sldId id="272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3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28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65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5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25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24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64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79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46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49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62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05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20D2D3B-89AE-4B0C-80A5-A411AAF1858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318CC3-26F9-4556-A3FF-4D04C374582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562F-1754-08CE-531F-7B1925BFC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14" y="402613"/>
            <a:ext cx="11628256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Profit Analysis using Regression &amp; Data Visualization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A531D-14BB-5924-D01D-35A5BFCD3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2064" y="3941374"/>
            <a:ext cx="10058400" cy="2006600"/>
          </a:xfrm>
        </p:spPr>
        <p:txBody>
          <a:bodyPr>
            <a:normAutofit/>
          </a:bodyPr>
          <a:lstStyle/>
          <a:p>
            <a:endParaRPr lang="en-IN" sz="11200" b="1" dirty="0">
              <a:latin typeface="+mn-lt"/>
            </a:endParaRPr>
          </a:p>
          <a:p>
            <a:endParaRPr lang="en-IN" sz="8000" b="1" dirty="0"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313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87A59F-9A9D-2D56-A6E2-87259DD44D53}"/>
              </a:ext>
            </a:extLst>
          </p:cNvPr>
          <p:cNvSpPr txBox="1"/>
          <p:nvPr/>
        </p:nvSpPr>
        <p:spPr>
          <a:xfrm>
            <a:off x="372867" y="0"/>
            <a:ext cx="111587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 </a:t>
            </a:r>
            <a:r>
              <a:rPr lang="en-US" sz="3600" b="1" u="sng" dirty="0"/>
              <a:t>Project Objective</a:t>
            </a:r>
          </a:p>
          <a:p>
            <a:pPr lvl="7"/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ED02E-102C-51A3-A547-60B83EFB6F49}"/>
              </a:ext>
            </a:extLst>
          </p:cNvPr>
          <p:cNvSpPr txBox="1"/>
          <p:nvPr/>
        </p:nvSpPr>
        <p:spPr>
          <a:xfrm>
            <a:off x="372867" y="1104037"/>
            <a:ext cx="1019353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Extract company data from the database.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Analyze the impact of </a:t>
            </a:r>
            <a:r>
              <a:rPr lang="en-US" sz="3200" b="1" dirty="0"/>
              <a:t>R&amp;D Spend, Administration, and Marketing Spend</a:t>
            </a:r>
            <a:r>
              <a:rPr lang="en-US" sz="3200" dirty="0"/>
              <a:t> on Profit.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Predict Profit for given inputs using </a:t>
            </a:r>
            <a:r>
              <a:rPr lang="en-US" sz="3200" b="1" dirty="0"/>
              <a:t>Regression Model.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Visualize insights using </a:t>
            </a:r>
            <a:r>
              <a:rPr lang="en-US" sz="3200" b="1" dirty="0"/>
              <a:t>Tableau / Power BI.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Suggest strategies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42446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8612-18BE-21F0-7DC7-49E0282A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" y="420787"/>
            <a:ext cx="10515600" cy="863599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latin typeface="+mn-lt"/>
              </a:rPr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5F44E-173A-A996-2798-D0FA37AB601F}"/>
              </a:ext>
            </a:extLst>
          </p:cNvPr>
          <p:cNvSpPr txBox="1"/>
          <p:nvPr/>
        </p:nvSpPr>
        <p:spPr>
          <a:xfrm>
            <a:off x="-1" y="1079500"/>
            <a:ext cx="1085850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Data Source: Company’s Startup Dataset (50 entries)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Key 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/>
              <a:t>R&amp;D Spend (Investment in research and development)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/>
              <a:t>Administration (Operational management cost)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/>
              <a:t>Marketing Spend (Advertising &amp; promotion cost)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600" dirty="0"/>
              <a:t>Profit (Target variable)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Data pulled from </a:t>
            </a:r>
            <a:r>
              <a:rPr lang="en-IN" sz="3600" b="1" dirty="0"/>
              <a:t>MySQL Database</a:t>
            </a:r>
            <a:r>
              <a:rPr lang="en-IN" sz="3600" dirty="0"/>
              <a:t> into local environment.</a:t>
            </a:r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033E5922-13C7-E25F-C1A1-A2324E749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2685" y="4451962"/>
            <a:ext cx="395629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6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CDD5-5648-1F50-3C4E-7E7408B97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75" y="499909"/>
            <a:ext cx="10515600" cy="904875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+mn-lt"/>
              </a:rPr>
              <a:t>Data Preprocessing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21BE7-6CB8-0667-244A-203F5815B47F}"/>
              </a:ext>
            </a:extLst>
          </p:cNvPr>
          <p:cNvSpPr txBox="1"/>
          <p:nvPr/>
        </p:nvSpPr>
        <p:spPr>
          <a:xfrm>
            <a:off x="126082" y="952347"/>
            <a:ext cx="11049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Checked for missing/null values → None.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Identified and treated outliers in Profit column.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Normalized/cleaned data for model building.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Split data into </a:t>
            </a:r>
            <a:r>
              <a:rPr lang="en-US" sz="3600" b="1" dirty="0"/>
              <a:t>Training (70%)</a:t>
            </a:r>
            <a:r>
              <a:rPr lang="en-US" sz="3600" dirty="0"/>
              <a:t> and </a:t>
            </a:r>
            <a:r>
              <a:rPr lang="en-US" sz="3600" b="1" dirty="0"/>
              <a:t>Testing (30%)</a:t>
            </a:r>
            <a:r>
              <a:rPr lang="en-US" sz="3600" dirty="0"/>
              <a:t> sets.</a:t>
            </a:r>
          </a:p>
        </p:txBody>
      </p:sp>
    </p:spTree>
    <p:extLst>
      <p:ext uri="{BB962C8B-B14F-4D97-AF65-F5344CB8AC3E}">
        <p14:creationId xmlns:p14="http://schemas.microsoft.com/office/powerpoint/2010/main" val="312552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58AE-45FA-6B6B-5ADB-66F1FACD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36" y="277792"/>
            <a:ext cx="12065000" cy="885725"/>
          </a:xfrm>
        </p:spPr>
        <p:txBody>
          <a:bodyPr/>
          <a:lstStyle/>
          <a:p>
            <a:r>
              <a:rPr lang="en-IN" b="1" u="sng" dirty="0">
                <a:latin typeface="+mn-lt"/>
              </a:rPr>
              <a:t>Regression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6268EA-001A-DA8A-2390-F89272ADA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136" y="1759811"/>
                <a:ext cx="10504276" cy="5799137"/>
              </a:xfrm>
            </p:spPr>
            <p:txBody>
              <a:bodyPr>
                <a:normAutofit/>
              </a:bodyPr>
              <a:lstStyle/>
              <a:p>
                <a:r>
                  <a:rPr lang="en-IN" sz="3300" dirty="0"/>
                  <a:t>Method: </a:t>
                </a:r>
                <a:r>
                  <a:rPr lang="en-IN" sz="3300" b="1" dirty="0"/>
                  <a:t>Multiple Linear Regression</a:t>
                </a:r>
                <a:endParaRPr lang="en-IN" sz="3300" dirty="0"/>
              </a:p>
              <a:p>
                <a:r>
                  <a:rPr lang="en-IN" sz="3300" dirty="0"/>
                  <a:t>Equation:</a:t>
                </a:r>
              </a:p>
              <a:p>
                <a:r>
                  <a:rPr lang="en-IN" sz="3300" dirty="0"/>
                  <a:t>Y=m1x1+m2x2+m3x3+c</a:t>
                </a:r>
              </a:p>
              <a:p>
                <a14:m>
                  <m:oMath xmlns:m="http://schemas.openxmlformats.org/officeDocument/2006/math">
                    <m:r>
                      <a:rPr lang="en-IN" sz="3300" i="1" smtClean="0">
                        <a:latin typeface="Cambria Math" panose="02040503050406030204" pitchFamily="18" charset="0"/>
                      </a:rPr>
                      <m:t>𝑃𝑟𝑜𝑓𝑖𝑡</m:t>
                    </m:r>
                    <m:r>
                      <a:rPr lang="en-IN" sz="3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33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3300" b="0" i="1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ar-AE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lit/>
                          </m:rPr>
                          <a:rPr lang="ar-AE" sz="3300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nor/>
                          </m:rPr>
                          <a:rPr lang="ar-AE" sz="3300" i="1"/>
                          <m:t> </m:t>
                        </m:r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𝑆𝑝𝑒𝑛𝑑</m:t>
                        </m:r>
                      </m:e>
                    </m:d>
                    <m:r>
                      <a:rPr lang="en-IN" sz="33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33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3300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ar-AE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𝐴𝑑𝑚𝑖𝑛𝑖𝑠𝑡𝑟𝑎𝑡𝑖𝑜𝑛</m:t>
                        </m:r>
                      </m:e>
                    </m:d>
                    <m:r>
                      <a:rPr lang="ar-AE" sz="33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33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3300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ar-AE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𝑀𝑎𝑟𝑘𝑒𝑡𝑖𝑛𝑔</m:t>
                        </m:r>
                        <m:r>
                          <m:rPr>
                            <m:nor/>
                          </m:rPr>
                          <a:rPr lang="ar-AE" sz="3300" i="1"/>
                          <m:t> </m:t>
                        </m:r>
                        <m:r>
                          <a:rPr lang="ar-AE" sz="3300" i="1">
                            <a:latin typeface="Cambria Math" panose="02040503050406030204" pitchFamily="18" charset="0"/>
                          </a:rPr>
                          <m:t>𝑆𝑝𝑒𝑛𝑑</m:t>
                        </m:r>
                      </m:e>
                    </m:d>
                    <m:r>
                      <a:rPr lang="ar-AE" sz="33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3300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IN" sz="3300" b="0" dirty="0"/>
              </a:p>
              <a:p>
                <a:endParaRPr lang="ar-AE" sz="3300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6268EA-001A-DA8A-2390-F89272ADA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136" y="1759811"/>
                <a:ext cx="10504276" cy="5799137"/>
              </a:xfrm>
              <a:blipFill>
                <a:blip r:embed="rId2"/>
                <a:stretch>
                  <a:fillRect l="-1509" t="-23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17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C8F2C9-7C9F-CC31-F2CB-066522AD276A}"/>
              </a:ext>
            </a:extLst>
          </p:cNvPr>
          <p:cNvSpPr txBox="1"/>
          <p:nvPr/>
        </p:nvSpPr>
        <p:spPr>
          <a:xfrm>
            <a:off x="506776" y="84684"/>
            <a:ext cx="1124822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300" dirty="0">
                <a:highlight>
                  <a:srgbClr val="FFFF00"/>
                </a:highlight>
              </a:rPr>
              <a:t>Model Evaluation:</a:t>
            </a:r>
          </a:p>
          <a:p>
            <a:pPr lvl="1"/>
            <a:r>
              <a:rPr lang="en-IN" sz="3300" dirty="0"/>
              <a:t>R² Score: 0.91195</a:t>
            </a:r>
          </a:p>
          <a:p>
            <a:pPr lvl="1"/>
            <a:r>
              <a:rPr lang="en-IN" sz="3300" dirty="0"/>
              <a:t>Co-</a:t>
            </a:r>
            <a:r>
              <a:rPr lang="en-IN" sz="3300" dirty="0" err="1"/>
              <a:t>efficients</a:t>
            </a:r>
            <a:r>
              <a:rPr lang="en-IN" sz="3300" dirty="0"/>
              <a:t>:</a:t>
            </a:r>
          </a:p>
          <a:p>
            <a:pPr lvl="1"/>
            <a:r>
              <a:rPr lang="en-IN" sz="3300" dirty="0"/>
              <a:t>m1</a:t>
            </a:r>
            <a:r>
              <a:rPr lang="en-IN" sz="3300" dirty="0">
                <a:sym typeface="Wingdings" panose="05000000000000000000" pitchFamily="2" charset="2"/>
              </a:rPr>
              <a:t>0.7447</a:t>
            </a:r>
          </a:p>
          <a:p>
            <a:pPr lvl="1"/>
            <a:r>
              <a:rPr lang="en-IN" sz="3300" dirty="0">
                <a:sym typeface="Wingdings" panose="05000000000000000000" pitchFamily="2" charset="2"/>
              </a:rPr>
              <a:t>m2-0.144</a:t>
            </a:r>
          </a:p>
          <a:p>
            <a:pPr lvl="1"/>
            <a:r>
              <a:rPr lang="en-IN" sz="3300" dirty="0">
                <a:sym typeface="Wingdings" panose="05000000000000000000" pitchFamily="2" charset="2"/>
              </a:rPr>
              <a:t>m30.0218</a:t>
            </a:r>
            <a:endParaRPr lang="en-IN" sz="3300" dirty="0"/>
          </a:p>
          <a:p>
            <a:pPr lvl="1"/>
            <a:r>
              <a:rPr lang="en-IN" sz="3300" dirty="0"/>
              <a:t>P-values for predictors :</a:t>
            </a:r>
          </a:p>
          <a:p>
            <a:pPr marL="457200" lvl="1" indent="0">
              <a:buNone/>
            </a:pPr>
            <a:r>
              <a:rPr lang="en-IN" sz="3300" dirty="0">
                <a:highlight>
                  <a:srgbClr val="808000"/>
                </a:highlight>
              </a:rPr>
              <a:t>      R&amp;D Spend -----------</a:t>
            </a:r>
            <a:r>
              <a:rPr lang="en-IN" sz="3300" dirty="0">
                <a:highlight>
                  <a:srgbClr val="808000"/>
                </a:highlight>
                <a:sym typeface="Wingdings" panose="05000000000000000000" pitchFamily="2" charset="2"/>
              </a:rPr>
              <a:t></a:t>
            </a:r>
            <a:r>
              <a:rPr lang="en-IN" sz="3300" dirty="0">
                <a:highlight>
                  <a:srgbClr val="808000"/>
                </a:highlight>
              </a:rPr>
              <a:t> 0.000000003  (Highly significant)</a:t>
            </a:r>
          </a:p>
          <a:p>
            <a:pPr marL="457200" lvl="1" indent="0">
              <a:buNone/>
            </a:pPr>
            <a:r>
              <a:rPr lang="en-IN" sz="3300" dirty="0">
                <a:highlight>
                  <a:srgbClr val="808000"/>
                </a:highlight>
              </a:rPr>
              <a:t>      Administration -------</a:t>
            </a:r>
            <a:r>
              <a:rPr lang="en-IN" sz="3300" dirty="0">
                <a:highlight>
                  <a:srgbClr val="808000"/>
                </a:highlight>
                <a:sym typeface="Wingdings" panose="05000000000000000000" pitchFamily="2" charset="2"/>
              </a:rPr>
              <a:t> 0.8225            (Not significant)</a:t>
            </a:r>
            <a:endParaRPr lang="en-IN" sz="3300" dirty="0">
              <a:highlight>
                <a:srgbClr val="808000"/>
              </a:highlight>
            </a:endParaRPr>
          </a:p>
          <a:p>
            <a:pPr marL="457200" lvl="1" indent="0">
              <a:buNone/>
            </a:pPr>
            <a:r>
              <a:rPr lang="en-IN" sz="3300" dirty="0">
                <a:highlight>
                  <a:srgbClr val="808000"/>
                </a:highlight>
              </a:rPr>
              <a:t>      Marketing Spend ----</a:t>
            </a:r>
            <a:r>
              <a:rPr lang="en-IN" sz="3300" dirty="0">
                <a:highlight>
                  <a:srgbClr val="808000"/>
                </a:highlight>
                <a:sym typeface="Wingdings" panose="05000000000000000000" pitchFamily="2" charset="2"/>
              </a:rPr>
              <a:t> 0.2942            (slightly significant)</a:t>
            </a:r>
          </a:p>
          <a:p>
            <a:pPr marL="457200" lvl="1" indent="0">
              <a:buNone/>
            </a:pPr>
            <a:endParaRPr lang="en-IN" sz="3300" dirty="0"/>
          </a:p>
          <a:p>
            <a:r>
              <a:rPr lang="en-IN" sz="3300" dirty="0"/>
              <a:t>Key Insight: R&amp;D Spend has the </a:t>
            </a:r>
            <a:r>
              <a:rPr lang="en-IN" sz="3300" b="1" dirty="0"/>
              <a:t>highest positive impact</a:t>
            </a:r>
            <a:r>
              <a:rPr lang="en-IN" sz="3300" dirty="0"/>
              <a:t> on Profit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29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3DF9-AAFB-04E6-3E19-71942559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79151"/>
            <a:ext cx="10515600" cy="919659"/>
          </a:xfrm>
        </p:spPr>
        <p:txBody>
          <a:bodyPr/>
          <a:lstStyle/>
          <a:p>
            <a:r>
              <a:rPr lang="en-IN" b="1" u="sng" dirty="0">
                <a:latin typeface="+mn-lt"/>
              </a:rPr>
              <a:t>Prediction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17555E-C367-5750-9A6C-7B1C5A8286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095655"/>
              </p:ext>
            </p:extLst>
          </p:nvPr>
        </p:nvGraphicFramePr>
        <p:xfrm>
          <a:off x="393700" y="1873090"/>
          <a:ext cx="10237576" cy="4461608"/>
        </p:xfrm>
        <a:graphic>
          <a:graphicData uri="http://schemas.openxmlformats.org/drawingml/2006/table">
            <a:tbl>
              <a:tblPr/>
              <a:tblGrid>
                <a:gridCol w="2384701">
                  <a:extLst>
                    <a:ext uri="{9D8B030D-6E8A-4147-A177-3AD203B41FA5}">
                      <a16:colId xmlns:a16="http://schemas.microsoft.com/office/drawing/2014/main" val="1531628684"/>
                    </a:ext>
                  </a:extLst>
                </a:gridCol>
                <a:gridCol w="2606534">
                  <a:extLst>
                    <a:ext uri="{9D8B030D-6E8A-4147-A177-3AD203B41FA5}">
                      <a16:colId xmlns:a16="http://schemas.microsoft.com/office/drawing/2014/main" val="1952024516"/>
                    </a:ext>
                  </a:extLst>
                </a:gridCol>
                <a:gridCol w="2539984">
                  <a:extLst>
                    <a:ext uri="{9D8B030D-6E8A-4147-A177-3AD203B41FA5}">
                      <a16:colId xmlns:a16="http://schemas.microsoft.com/office/drawing/2014/main" val="2365875860"/>
                    </a:ext>
                  </a:extLst>
                </a:gridCol>
                <a:gridCol w="2706357">
                  <a:extLst>
                    <a:ext uri="{9D8B030D-6E8A-4147-A177-3AD203B41FA5}">
                      <a16:colId xmlns:a16="http://schemas.microsoft.com/office/drawing/2014/main" val="3476207806"/>
                    </a:ext>
                  </a:extLst>
                </a:gridCol>
              </a:tblGrid>
              <a:tr h="1704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/>
                        <a:t>R&amp;D 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/>
                        <a:t>Administration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/>
                        <a:t>Marketing 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u="sng" dirty="0"/>
                        <a:t>Predicted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30445"/>
                  </a:ext>
                </a:extLst>
              </a:tr>
              <a:tr h="1378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21892.92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81910.77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164270.70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>
                          <a:highlight>
                            <a:srgbClr val="00FF00"/>
                          </a:highlight>
                        </a:rPr>
                        <a:t>74897.244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978801"/>
                  </a:ext>
                </a:extLst>
              </a:tr>
              <a:tr h="1378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23940.93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96489.63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137001.10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kern="12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75617.984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52598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EE606BB-DFDF-6D18-2360-7980F2399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30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Features &amp; Predicted Profits: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09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09E0-270D-930D-5229-660FAAC72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"/>
            <a:ext cx="10515600" cy="711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+mn-lt"/>
              </a:rPr>
              <a:t>R&amp;D Spend vs Profit </a:t>
            </a:r>
            <a:endParaRPr lang="en-IN" b="1" u="sng" dirty="0">
              <a:latin typeface="+mn-lt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DB6CD1-8C32-D9EF-02FA-6759016D8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104900"/>
            <a:ext cx="6870843" cy="5016499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93C4725-0C32-6E71-DB34-28C28D6D9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839886"/>
              </p:ext>
            </p:extLst>
          </p:nvPr>
        </p:nvGraphicFramePr>
        <p:xfrm>
          <a:off x="8356600" y="808522"/>
          <a:ext cx="1670306" cy="5114070"/>
        </p:xfrm>
        <a:graphic>
          <a:graphicData uri="http://schemas.openxmlformats.org/drawingml/2006/table">
            <a:tbl>
              <a:tblPr/>
              <a:tblGrid>
                <a:gridCol w="704850">
                  <a:extLst>
                    <a:ext uri="{9D8B030D-6E8A-4147-A177-3AD203B41FA5}">
                      <a16:colId xmlns:a16="http://schemas.microsoft.com/office/drawing/2014/main" val="3807007395"/>
                    </a:ext>
                  </a:extLst>
                </a:gridCol>
                <a:gridCol w="965456">
                  <a:extLst>
                    <a:ext uri="{9D8B030D-6E8A-4147-A177-3AD203B41FA5}">
                      <a16:colId xmlns:a16="http://schemas.microsoft.com/office/drawing/2014/main" val="3595678967"/>
                    </a:ext>
                  </a:extLst>
                </a:gridCol>
              </a:tblGrid>
              <a:tr h="3795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</a:rPr>
                        <a:t>Sum of </a:t>
                      </a:r>
                      <a:r>
                        <a:rPr lang="en-IN" sz="6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</a:rPr>
                        <a:t>RD_Spend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</a:t>
                      </a: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</a:rPr>
                        <a:t>Profit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6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542.05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35673.41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878778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42559.73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264320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1315.46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49490.75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463097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1000.23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64926.08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120273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22177.74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65200.33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618593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15505.73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69758.98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580903"/>
                  </a:ext>
                </a:extLst>
              </a:tr>
              <a:tr h="872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23640.93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71498.49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58414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27892.92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77798.83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72622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28754.33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78239.91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357077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38558.51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81005.76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66603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20229.59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81229.06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7942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44069.95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89949.14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004158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28663.76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90708.19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066351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46014.02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96479.51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56409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46426.07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96712.8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213655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55493.95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96778.92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42449"/>
                  </a:ext>
                </a:extLst>
              </a:tr>
              <a:tr h="872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63408.86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97427.84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978376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61136.38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97483.56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565161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61994.48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99937.59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129363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65605.48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101004.64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63197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66051.52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103282.38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503083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72107.6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105008.31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252204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75328.87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105733.54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840293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64664.71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107404.34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639951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77044.01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108552.04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796941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67532.53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108733.99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701395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73994.56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110352.25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391691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78389.47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111313.02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225923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112012.6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74140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76253.86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118474.03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62919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86419.7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122776.86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853164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91749.16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124266.9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34475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94657.16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125370.37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563635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78013.11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126992.93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027990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114523.61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129917.04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325339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119943.24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132602.65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90557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91992.39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134307.35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29368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93863.75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141585.52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123741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100671.96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144259.4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43229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101913.08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146121.95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78439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123334.88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149759.96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09487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120542.52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152211.77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145051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130298.13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155752.6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51220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134615.46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156122.51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160816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131876.9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156991.12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598800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142107.34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166187.94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588617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144372.41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182901.99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645433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153441.51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191050.39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573826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162597.7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191792.06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74482"/>
                  </a:ext>
                </a:extLst>
              </a:tr>
              <a:tr h="947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165349.2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192261.83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54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02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6E1A-1BB6-B635-DDD9-608F3E7F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26" y="88509"/>
            <a:ext cx="10515600" cy="979572"/>
          </a:xfrm>
        </p:spPr>
        <p:txBody>
          <a:bodyPr/>
          <a:lstStyle/>
          <a:p>
            <a:pPr algn="ctr"/>
            <a:r>
              <a:rPr lang="en-IN" b="1" u="sng" dirty="0">
                <a:latin typeface="+mn-lt"/>
              </a:rPr>
              <a:t>Administration Vs Profit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6CE323-EFDE-81DE-BCD4-96AB720EE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926" y="1928367"/>
            <a:ext cx="5932392" cy="43513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300E52-65CA-E21F-8B34-1850633DF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65339"/>
              </p:ext>
            </p:extLst>
          </p:nvPr>
        </p:nvGraphicFramePr>
        <p:xfrm>
          <a:off x="7926404" y="1495395"/>
          <a:ext cx="1197236" cy="4784310"/>
        </p:xfrm>
        <a:graphic>
          <a:graphicData uri="http://schemas.openxmlformats.org/drawingml/2006/table">
            <a:tbl>
              <a:tblPr/>
              <a:tblGrid>
                <a:gridCol w="893875">
                  <a:extLst>
                    <a:ext uri="{9D8B030D-6E8A-4147-A177-3AD203B41FA5}">
                      <a16:colId xmlns:a16="http://schemas.microsoft.com/office/drawing/2014/main" val="1991088751"/>
                    </a:ext>
                  </a:extLst>
                </a:gridCol>
                <a:gridCol w="303361">
                  <a:extLst>
                    <a:ext uri="{9D8B030D-6E8A-4147-A177-3AD203B41FA5}">
                      <a16:colId xmlns:a16="http://schemas.microsoft.com/office/drawing/2014/main" val="3580382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</a:rPr>
                        <a:t>Sum of Administration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</a:rPr>
                        <a:t>Profit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86506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51743.15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35673.41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83868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135426.92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42559.73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477280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115816.21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49490.75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17110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124153.04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64926.08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18537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154806.14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65200.33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563553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127382.3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69758.98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1098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96189.63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71498.49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83643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84710.77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77798.83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6478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118546.05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78239.91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90637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82982.09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81005.76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11418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65947.93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81229.06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3872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51283.14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89949.14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5057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127056.21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90708.19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07867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85047.44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96479.51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19152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157693.92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96712.8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81283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103057.49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96778.92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938990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129219.61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97427.84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875713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152701.92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97483.56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61123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115641.28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99937.59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91316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153032.06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101004.6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31431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182645.56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103282.4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59445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127864.55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105008.3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62940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144135.98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105733.5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0560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139553.16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107404.3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28666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99281.34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108552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5252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105751.03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108734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61437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122782.75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110352.3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44537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153773.43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111313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7677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116983.8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112012.6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987523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113867.3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118474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29623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153514.11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122776.9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40996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114175.79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124266.9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39066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145077.58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125370.4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14113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121597.55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126992.9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24270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122616.84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129917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31757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156547.42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132602.7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8231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135495.07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134307.4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63709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127320.38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141585.5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25522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91790.61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144259.4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37952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110594.11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146122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1097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108679.17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149760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06387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148718.95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152211.8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49799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145530.06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155752.6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87623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147198.87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156122.5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32856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99814.71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156991.1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89843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91391.77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166187.9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07249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118671.85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182902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23679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101145.55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191050.4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84633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151377.59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191792.1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30378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136897.8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192261.8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51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736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E9CFE-2F3A-7867-72B0-401A1ECC7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28" y="73825"/>
            <a:ext cx="10515600" cy="870085"/>
          </a:xfrm>
        </p:spPr>
        <p:txBody>
          <a:bodyPr/>
          <a:lstStyle/>
          <a:p>
            <a:pPr algn="ctr"/>
            <a:r>
              <a:rPr lang="en-IN" b="1" u="sng" dirty="0">
                <a:latin typeface="+mn-lt"/>
              </a:rPr>
              <a:t>Marketing</a:t>
            </a:r>
            <a:r>
              <a:rPr lang="en-IN" u="sng" dirty="0"/>
              <a:t> </a:t>
            </a:r>
            <a:r>
              <a:rPr lang="en-IN" b="1" u="sng" dirty="0">
                <a:latin typeface="+mn-lt"/>
              </a:rPr>
              <a:t>Spend</a:t>
            </a:r>
            <a:r>
              <a:rPr lang="en-IN" u="sng" dirty="0"/>
              <a:t> </a:t>
            </a:r>
            <a:r>
              <a:rPr lang="en-IN" b="1" u="sng" dirty="0">
                <a:latin typeface="+mn-lt"/>
              </a:rPr>
              <a:t>vs Profit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1684CE-E34B-1F50-807A-D7927B1A3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099" y="1887270"/>
            <a:ext cx="6453751" cy="43513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12EC51-70D1-F716-0AA8-3AF5646B5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392738"/>
              </p:ext>
            </p:extLst>
          </p:nvPr>
        </p:nvGraphicFramePr>
        <p:xfrm>
          <a:off x="7951872" y="1222625"/>
          <a:ext cx="2106527" cy="5561550"/>
        </p:xfrm>
        <a:graphic>
          <a:graphicData uri="http://schemas.openxmlformats.org/drawingml/2006/table">
            <a:tbl>
              <a:tblPr/>
              <a:tblGrid>
                <a:gridCol w="1476538">
                  <a:extLst>
                    <a:ext uri="{9D8B030D-6E8A-4147-A177-3AD203B41FA5}">
                      <a16:colId xmlns:a16="http://schemas.microsoft.com/office/drawing/2014/main" val="1616191243"/>
                    </a:ext>
                  </a:extLst>
                </a:gridCol>
                <a:gridCol w="629989">
                  <a:extLst>
                    <a:ext uri="{9D8B030D-6E8A-4147-A177-3AD203B41FA5}">
                      <a16:colId xmlns:a16="http://schemas.microsoft.com/office/drawing/2014/main" val="2675446836"/>
                    </a:ext>
                  </a:extLst>
                </a:gridCol>
              </a:tblGrid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</a:rPr>
                        <a:t>Sum of </a:t>
                      </a:r>
                      <a:r>
                        <a:rPr lang="en-IN" sz="7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</a:rPr>
                        <a:t>Marketing_Spend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</a:rPr>
                        <a:t>Profit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66379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35673.41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4039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42559.73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17190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297114.46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49490.75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45969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1903.93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64926.08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43123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28334.72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65200.33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39761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35534.17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69758.98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36229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148001.11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71498.49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575093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164470.71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77798.83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2137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172795.67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78239.91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70200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174999.3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81005.76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55153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185265.1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81229.06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57373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197029.42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89949.14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7024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201126.82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90708.19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90588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205517.64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96479.51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81105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210797.67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96712.8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571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214634.81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96778.92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4827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46085.25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97427.84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31989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88218.23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97483.56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85651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91131.24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99937.59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24798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107138.38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101004.6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01222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118148.2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103282.4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30015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353183.81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105008.3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67901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134050.07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105733.5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36244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137962.62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107404.3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91765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140574.81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108552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590480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304768.73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108734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795447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303319.26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110352.3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486024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299737.29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111313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3282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45173.06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112012.6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08820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298664.47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118474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98082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122776.9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6337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294919.57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124266.9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30647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282574.31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125370.4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498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264346.06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126992.9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18991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261776.23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129917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94247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256512.92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132602.7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60805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252664.93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134307.4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005386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249839.44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141585.5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6631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249744.55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144259.4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47194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229160.95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146122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176343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304981.62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149760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2984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311613.29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152211.8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17029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323876.68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155752.6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0086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127716.82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156122.5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978222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362861.36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156991.1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55909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366168.42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166187.9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23174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383199.62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182902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804878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407934.54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191050.4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563995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443898.53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191792.1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678021"/>
                  </a:ext>
                </a:extLst>
              </a:tr>
              <a:tr h="85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471784.1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192261.8</a:t>
                      </a:r>
                    </a:p>
                  </a:txBody>
                  <a:tcPr marL="2370" marR="2370" marT="237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5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893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C12A-0F96-F3EE-5307-933F51FC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3283"/>
            <a:ext cx="10058400" cy="950551"/>
          </a:xfrm>
        </p:spPr>
        <p:txBody>
          <a:bodyPr/>
          <a:lstStyle/>
          <a:p>
            <a:pPr algn="ctr"/>
            <a:r>
              <a:rPr lang="en-IN" u="sng" dirty="0">
                <a:latin typeface="+mn-lt"/>
              </a:rPr>
              <a:t>Feature Importance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3EA130-CBFD-A695-854E-B0BBE7994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1" y="1860698"/>
            <a:ext cx="8538804" cy="4210493"/>
          </a:xfrm>
        </p:spPr>
      </p:pic>
    </p:spTree>
    <p:extLst>
      <p:ext uri="{BB962C8B-B14F-4D97-AF65-F5344CB8AC3E}">
        <p14:creationId xmlns:p14="http://schemas.microsoft.com/office/powerpoint/2010/main" val="2290299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84F2-07A1-12C8-BB21-17A3EEBC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25303"/>
            <a:ext cx="10058400" cy="844225"/>
          </a:xfrm>
        </p:spPr>
        <p:txBody>
          <a:bodyPr>
            <a:normAutofit/>
          </a:bodyPr>
          <a:lstStyle/>
          <a:p>
            <a:pPr algn="ctr"/>
            <a:r>
              <a:rPr lang="en-IN" sz="4400" u="sng" dirty="0">
                <a:latin typeface="+mn-lt"/>
              </a:rPr>
              <a:t>Feature Correlation (Heat Map)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3EF626-4EC2-EA7C-20EF-9B3B6FB87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126" y="1846263"/>
            <a:ext cx="8038214" cy="4267458"/>
          </a:xfrm>
        </p:spPr>
      </p:pic>
    </p:spTree>
    <p:extLst>
      <p:ext uri="{BB962C8B-B14F-4D97-AF65-F5344CB8AC3E}">
        <p14:creationId xmlns:p14="http://schemas.microsoft.com/office/powerpoint/2010/main" val="284792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46D9-B5CA-304D-5349-60F54146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453" y="359597"/>
            <a:ext cx="10058400" cy="1078786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+mn-lt"/>
              </a:rPr>
              <a:t>Insights &amp; Findings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1B5F1-06B8-B98D-2A89-B53CA712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453" y="1998913"/>
            <a:ext cx="8527181" cy="4351338"/>
          </a:xfrm>
        </p:spPr>
        <p:txBody>
          <a:bodyPr>
            <a:normAutofit/>
          </a:bodyPr>
          <a:lstStyle/>
          <a:p>
            <a:r>
              <a:rPr lang="en-US" sz="3200" dirty="0"/>
              <a:t>R&amp;D Spend is the </a:t>
            </a:r>
            <a:r>
              <a:rPr lang="en-US" sz="3200" b="1" dirty="0"/>
              <a:t>most critical factor</a:t>
            </a:r>
            <a:r>
              <a:rPr lang="en-US" sz="3200" dirty="0"/>
              <a:t> driving Profit.</a:t>
            </a:r>
          </a:p>
          <a:p>
            <a:r>
              <a:rPr lang="en-US" sz="3200" dirty="0"/>
              <a:t>Marketing Spend contributes but less than R&amp;D.</a:t>
            </a:r>
          </a:p>
          <a:p>
            <a:r>
              <a:rPr lang="en-US" sz="3200" dirty="0"/>
              <a:t>Administration cost shows </a:t>
            </a:r>
            <a:r>
              <a:rPr lang="en-US" sz="3200" b="1" dirty="0"/>
              <a:t>very low/insignificant impact</a:t>
            </a:r>
            <a:r>
              <a:rPr lang="en-US" sz="3200" dirty="0"/>
              <a:t>.</a:t>
            </a:r>
          </a:p>
          <a:p>
            <a:r>
              <a:rPr lang="en-US" sz="3200" dirty="0"/>
              <a:t>High R&amp;D + Balanced Marketing leads to </a:t>
            </a:r>
            <a:r>
              <a:rPr lang="en-US" sz="3200" b="1" dirty="0"/>
              <a:t>maximum profit growth</a:t>
            </a:r>
            <a:r>
              <a:rPr lang="en-US" sz="3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785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DC8F-69E5-ACA3-6F1F-EEFFEAF7E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516"/>
            <a:ext cx="10058400" cy="999230"/>
          </a:xfrm>
        </p:spPr>
        <p:txBody>
          <a:bodyPr/>
          <a:lstStyle/>
          <a:p>
            <a:r>
              <a:rPr lang="en-IN" b="1" u="sng" dirty="0">
                <a:latin typeface="+mn-lt"/>
              </a:rPr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E7A66D-BEDE-4195-869E-B175A089E8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9824"/>
            <a:ext cx="1079874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allocation towards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R&amp;D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innovation &amp;         higher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Spend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ROI (Return on Investment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Reassess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Administrative costs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minimal impact on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predictive model for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profit forecasting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943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AB40-B828-DEDE-8691-0D903E402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607"/>
            <a:ext cx="10058400" cy="944146"/>
          </a:xfrm>
        </p:spPr>
        <p:txBody>
          <a:bodyPr/>
          <a:lstStyle/>
          <a:p>
            <a:r>
              <a:rPr lang="en-IN" b="1" u="sng" dirty="0"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ED1BD-D595-9E0D-14D0-E1AA2ACE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501"/>
            <a:ext cx="10134600" cy="4351338"/>
          </a:xfrm>
        </p:spPr>
        <p:txBody>
          <a:bodyPr>
            <a:normAutofit/>
          </a:bodyPr>
          <a:lstStyle/>
          <a:p>
            <a:r>
              <a:rPr lang="en-IN" sz="3200" dirty="0"/>
              <a:t>Regression analysis provided clear insights into profit drivers</a:t>
            </a:r>
          </a:p>
          <a:p>
            <a:r>
              <a:rPr lang="en-IN" sz="3200" dirty="0"/>
              <a:t>Predictions help in </a:t>
            </a:r>
            <a:r>
              <a:rPr lang="en-IN" sz="3200" b="1" dirty="0"/>
              <a:t>budget planning &amp; investment strategies</a:t>
            </a:r>
            <a:endParaRPr lang="en-IN" sz="3200" dirty="0"/>
          </a:p>
          <a:p>
            <a:r>
              <a:rPr lang="en-IN" sz="3200" dirty="0"/>
              <a:t>Data visualization (Tableau/Power BI) enhances decision-making</a:t>
            </a:r>
          </a:p>
          <a:p>
            <a:r>
              <a:rPr lang="en-IN" sz="3200" dirty="0"/>
              <a:t>Future Scope: Add more variables like </a:t>
            </a:r>
            <a:r>
              <a:rPr lang="en-IN" sz="3200" b="1" dirty="0"/>
              <a:t>State, Competitor Analysis, Market Trends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528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0E39-82AA-C6BC-228D-5E017BFD9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+mn-lt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75FFF-8B16-B51E-75E9-3AD98962C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4400" dirty="0"/>
              <a:t>Thank You </a:t>
            </a:r>
          </a:p>
          <a:p>
            <a:pPr marL="0" indent="0" algn="ctr">
              <a:buNone/>
            </a:pPr>
            <a:endParaRPr lang="en-IN" sz="4000" dirty="0"/>
          </a:p>
          <a:p>
            <a:pPr marL="0" indent="0" algn="ctr">
              <a:buNone/>
            </a:pPr>
            <a:r>
              <a:rPr lang="en-IN" sz="4000" dirty="0"/>
              <a:t>Open for Questions</a:t>
            </a:r>
          </a:p>
        </p:txBody>
      </p:sp>
    </p:spTree>
    <p:extLst>
      <p:ext uri="{BB962C8B-B14F-4D97-AF65-F5344CB8AC3E}">
        <p14:creationId xmlns:p14="http://schemas.microsoft.com/office/powerpoint/2010/main" val="3497326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335</TotalTime>
  <Words>752</Words>
  <Application>Microsoft Office PowerPoint</Application>
  <PresentationFormat>Widescreen</PresentationFormat>
  <Paragraphs>391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Wingdings</vt:lpstr>
      <vt:lpstr>Retrospect</vt:lpstr>
      <vt:lpstr>Profit Analysis using Regression &amp; Data Visualization</vt:lpstr>
      <vt:lpstr>PowerPoint Presentation</vt:lpstr>
      <vt:lpstr>Dataset Overview </vt:lpstr>
      <vt:lpstr>Data Preprocessing </vt:lpstr>
      <vt:lpstr>Regression Analysis</vt:lpstr>
      <vt:lpstr>PowerPoint Presentation</vt:lpstr>
      <vt:lpstr>Prediction Results</vt:lpstr>
      <vt:lpstr>R&amp;D Spend vs Profit </vt:lpstr>
      <vt:lpstr>Administration Vs Profit</vt:lpstr>
      <vt:lpstr>Marketing Spend vs Profit</vt:lpstr>
      <vt:lpstr>Feature Importance</vt:lpstr>
      <vt:lpstr>Feature Correlation (Heat Map)</vt:lpstr>
      <vt:lpstr>Insights &amp; Findings </vt:lpstr>
      <vt:lpstr>Recommendations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 GAIKWAD</dc:creator>
  <cp:lastModifiedBy>VIKAS GAIKWAD</cp:lastModifiedBy>
  <cp:revision>4</cp:revision>
  <dcterms:created xsi:type="dcterms:W3CDTF">2025-09-22T12:43:22Z</dcterms:created>
  <dcterms:modified xsi:type="dcterms:W3CDTF">2026-08-20T06:14:55Z</dcterms:modified>
</cp:coreProperties>
</file>